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62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753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43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74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98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21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37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39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094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351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10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F11D21-43FF-4740-9415-61BD37DAA119}" type="datetimeFigureOut">
              <a:rPr lang="en-IN" smtClean="0"/>
              <a:t>19-05-2026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475401-BF08-4DFF-8A68-29D3FFDA538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7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2090057"/>
            <a:ext cx="8438605" cy="2063932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>
                <a:latin typeface="Calibri (body)"/>
              </a:rPr>
              <a:t>Hospital Data Cleaning and Analysis</a:t>
            </a:r>
            <a:endParaRPr lang="en-IN" sz="48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6520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Problem </a:t>
            </a:r>
            <a:r>
              <a:rPr lang="en-US" b="1" dirty="0"/>
              <a:t>Statement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The dataset contains </a:t>
            </a:r>
            <a:r>
              <a:rPr lang="en-US" b="1" dirty="0" smtClean="0"/>
              <a:t>incomplete, inconsistent, and incorrect data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Presence of: </a:t>
            </a:r>
          </a:p>
          <a:p>
            <a:pPr lvl="1"/>
            <a:r>
              <a:rPr lang="en-US" dirty="0" smtClean="0"/>
              <a:t>Missing values (</a:t>
            </a:r>
            <a:r>
              <a:rPr lang="en-US" dirty="0" smtClean="0"/>
              <a:t>NaN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Incorrect entries (negative age, &gt;100% insurance) </a:t>
            </a:r>
          </a:p>
          <a:p>
            <a:pPr lvl="1"/>
            <a:r>
              <a:rPr lang="en-US" dirty="0" smtClean="0"/>
              <a:t>Inconsistent formats (dates, text) </a:t>
            </a:r>
          </a:p>
          <a:p>
            <a:r>
              <a:rPr lang="en-US" dirty="0" smtClean="0"/>
              <a:t>Raw data cannot be used directly for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56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/>
              <a:t> </a:t>
            </a:r>
            <a:r>
              <a:rPr lang="en-IN" b="1" dirty="0" smtClean="0"/>
              <a:t>                             Dataset </a:t>
            </a:r>
            <a:r>
              <a:rPr lang="en-IN" b="1" dirty="0"/>
              <a:t>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/>
          <a:lstStyle/>
          <a:p>
            <a:endParaRPr lang="en-IN" dirty="0" smtClean="0"/>
          </a:p>
          <a:p>
            <a:r>
              <a:rPr lang="en-IN" dirty="0" smtClean="0"/>
              <a:t>Contains hospital patient records </a:t>
            </a:r>
          </a:p>
          <a:p>
            <a:r>
              <a:rPr lang="en-IN" dirty="0" smtClean="0"/>
              <a:t>Key columns: </a:t>
            </a:r>
          </a:p>
          <a:p>
            <a:pPr lvl="1"/>
            <a:r>
              <a:rPr lang="en-IN" dirty="0" smtClean="0"/>
              <a:t>Patient details (ID, Name, Age, Gender, City) </a:t>
            </a:r>
          </a:p>
          <a:p>
            <a:pPr lvl="1"/>
            <a:r>
              <a:rPr lang="en-IN" dirty="0" smtClean="0"/>
              <a:t>Admission &amp; discharge dates </a:t>
            </a:r>
          </a:p>
          <a:p>
            <a:pPr lvl="1"/>
            <a:r>
              <a:rPr lang="en-IN" dirty="0" smtClean="0"/>
              <a:t>Doctor &amp; treatment info </a:t>
            </a:r>
          </a:p>
          <a:p>
            <a:pPr lvl="1"/>
            <a:r>
              <a:rPr lang="en-IN" dirty="0" smtClean="0"/>
              <a:t>Billing &amp; insurance details </a:t>
            </a:r>
          </a:p>
          <a:p>
            <a:r>
              <a:rPr lang="en-IN" dirty="0" smtClean="0"/>
              <a:t>Total features: (17columns , 30000 entries) </a:t>
            </a:r>
          </a:p>
          <a:p>
            <a:r>
              <a:rPr lang="en-IN" dirty="0" smtClean="0"/>
              <a:t>Data type: Mixed (numeric + categorical + dates)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30000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30000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19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2514"/>
            <a:ext cx="10515600" cy="1124295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en-US" sz="3600" b="1" dirty="0" smtClean="0">
                <a:latin typeface="Calibri (body)"/>
              </a:rPr>
              <a:t/>
            </a:r>
            <a:br>
              <a:rPr lang="en-US" altLang="en-US" sz="3600" b="1" dirty="0" smtClean="0">
                <a:latin typeface="Calibri (body)"/>
              </a:rPr>
            </a:br>
            <a:r>
              <a:rPr lang="en-US" altLang="en-US" sz="3600" b="1" dirty="0">
                <a:latin typeface="Calibri (body)"/>
              </a:rPr>
              <a:t> </a:t>
            </a:r>
            <a:r>
              <a:rPr lang="en-US" altLang="en-US" sz="3600" b="1" dirty="0" smtClean="0">
                <a:latin typeface="Calibri (body)"/>
              </a:rPr>
              <a:t>                       Data </a:t>
            </a:r>
            <a:r>
              <a:rPr lang="en-US" altLang="en-US" sz="3600" b="1" dirty="0">
                <a:latin typeface="Calibri (body)"/>
              </a:rPr>
              <a:t>Issues Identified</a:t>
            </a:r>
            <a:r>
              <a:rPr lang="en-US" altLang="en-US" b="1" dirty="0">
                <a:latin typeface="Calibri (body)"/>
              </a:rPr>
              <a:t/>
            </a:r>
            <a:br>
              <a:rPr lang="en-US" altLang="en-US" b="1" dirty="0">
                <a:latin typeface="Calibri (body)"/>
              </a:rPr>
            </a:br>
            <a:endParaRPr lang="en-IN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8" y="2216188"/>
            <a:ext cx="8001002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Missing values in: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patient_name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, city,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doctor_name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treatment_type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admission_date,billing_amount,length_of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stay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Invalid values: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Age &lt;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Insurance coverage &gt; 100%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Inconsistent formats: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Dates (YYYY/MM/DD, DD-MM-YYYY mix)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Text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(male vs Male, paid vs Paid)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9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en-US" b="1" dirty="0" smtClean="0">
                <a:latin typeface="Arial" panose="020B0604020202020204" pitchFamily="34" charset="0"/>
              </a:rPr>
              <a:t/>
            </a:r>
            <a:br>
              <a:rPr lang="en-US" altLang="en-US" b="1" dirty="0" smtClean="0">
                <a:latin typeface="Arial" panose="020B0604020202020204" pitchFamily="34" charset="0"/>
              </a:rPr>
            </a:br>
            <a:r>
              <a:rPr lang="en-US" altLang="en-US" b="1" dirty="0">
                <a:latin typeface="Arial" panose="020B0604020202020204" pitchFamily="34" charset="0"/>
              </a:rPr>
              <a:t/>
            </a:r>
            <a:br>
              <a:rPr lang="en-US" altLang="en-US" b="1" dirty="0">
                <a:latin typeface="Arial" panose="020B0604020202020204" pitchFamily="34" charset="0"/>
              </a:rPr>
            </a:br>
            <a:r>
              <a:rPr lang="en-US" altLang="en-US" b="1" dirty="0" smtClean="0">
                <a:latin typeface="Arial" panose="020B0604020202020204" pitchFamily="34" charset="0"/>
              </a:rPr>
              <a:t>Cleaning </a:t>
            </a:r>
            <a:r>
              <a:rPr lang="en-US" altLang="en-US" b="1" dirty="0">
                <a:latin typeface="Arial" panose="020B0604020202020204" pitchFamily="34" charset="0"/>
              </a:rPr>
              <a:t>Approach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10" name="Rectangle 7"/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4"/>
            <a:ext cx="73565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Handled missing values using: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"Unknown", "Not Assigned", "General"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Fixed invalid age: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Negative &amp; &gt;100 → converted to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NaN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Filled using department-wise median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Standardized text using 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str.capitalize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Converted dates using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pd.to_datetime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()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Created new features: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insurance_amount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billing_amount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hospital_revenue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length_of_stay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75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        </a:t>
            </a:r>
            <a:r>
              <a:rPr lang="en-US" sz="4800" b="1" dirty="0" smtClean="0"/>
              <a:t>Analysis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51903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u="sng" dirty="0"/>
              <a:t>Revenue by Department</a:t>
            </a:r>
          </a:p>
          <a:p>
            <a:r>
              <a:rPr lang="en-US" sz="2400" b="1" dirty="0"/>
              <a:t>Explanation:</a:t>
            </a:r>
          </a:p>
          <a:p>
            <a:r>
              <a:rPr lang="en-US" sz="1800" dirty="0"/>
              <a:t>The data is grouped by department </a:t>
            </a:r>
          </a:p>
          <a:p>
            <a:r>
              <a:rPr lang="en-US" sz="1800" dirty="0"/>
              <a:t>Total billing amount is calculated for each department </a:t>
            </a:r>
          </a:p>
          <a:p>
            <a:r>
              <a:rPr lang="en-US" sz="1800" dirty="0"/>
              <a:t>A bar chart is used to visualize revenue distribution </a:t>
            </a:r>
          </a:p>
          <a:p>
            <a:r>
              <a:rPr lang="en-US" sz="1800" dirty="0" smtClean="0"/>
              <a:t>Purpose</a:t>
            </a:r>
            <a:r>
              <a:rPr lang="en-US" sz="1800" dirty="0"/>
              <a:t>: To identify which department generates the highest revenue</a:t>
            </a:r>
          </a:p>
          <a:p>
            <a:pPr marL="0" indent="0">
              <a:buNone/>
            </a:pPr>
            <a:r>
              <a:rPr lang="en-US" sz="2400" u="sng" dirty="0"/>
              <a:t>Average Stay by Department</a:t>
            </a:r>
          </a:p>
          <a:p>
            <a:r>
              <a:rPr lang="en-US" sz="2400" b="1" dirty="0"/>
              <a:t>Explanation:</a:t>
            </a:r>
            <a:endParaRPr lang="en-US" sz="1600" b="1" dirty="0"/>
          </a:p>
          <a:p>
            <a:r>
              <a:rPr lang="en-US" sz="1800" dirty="0"/>
              <a:t>Data is grouped by department </a:t>
            </a:r>
          </a:p>
          <a:p>
            <a:r>
              <a:rPr lang="en-US" sz="1800" dirty="0"/>
              <a:t>Average length of hospital stay is calculated for each department </a:t>
            </a:r>
          </a:p>
          <a:p>
            <a:r>
              <a:rPr lang="en-US" sz="1800" dirty="0"/>
              <a:t>A bar chart is used for visualization </a:t>
            </a:r>
          </a:p>
          <a:p>
            <a:r>
              <a:rPr lang="en-US" sz="1800" dirty="0" smtClean="0"/>
              <a:t>Purpose</a:t>
            </a:r>
            <a:r>
              <a:rPr lang="en-US" sz="1800" dirty="0"/>
              <a:t>: To understand which departments have longer patient stays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806" y="1018903"/>
            <a:ext cx="3126378" cy="28215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532" y="3840481"/>
            <a:ext cx="3256652" cy="260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1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IN" sz="2800" b="1" u="sng" dirty="0"/>
              <a:t>Doctor Performance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600" b="1" dirty="0" smtClean="0"/>
              <a:t>Explanation</a:t>
            </a:r>
            <a:r>
              <a:rPr lang="en-US" sz="2600" b="1" dirty="0"/>
              <a:t>:</a:t>
            </a:r>
          </a:p>
          <a:p>
            <a:r>
              <a:rPr lang="en-US" sz="1800" dirty="0"/>
              <a:t>Data is grouped by doctor </a:t>
            </a:r>
          </a:p>
          <a:p>
            <a:r>
              <a:rPr lang="en-US" sz="1800" dirty="0"/>
              <a:t>Total billing amount handled by each doctor is calculated </a:t>
            </a:r>
          </a:p>
          <a:p>
            <a:r>
              <a:rPr lang="en-US" sz="1800" dirty="0"/>
              <a:t>Results are sorted in descending order </a:t>
            </a:r>
          </a:p>
          <a:p>
            <a:r>
              <a:rPr lang="en-US" sz="1800" dirty="0"/>
              <a:t>A bar chart is used to display performance </a:t>
            </a:r>
          </a:p>
          <a:p>
            <a:r>
              <a:rPr lang="en-US" sz="1800" dirty="0" smtClean="0"/>
              <a:t>Purpose</a:t>
            </a:r>
            <a:r>
              <a:rPr lang="en-US" sz="1800" dirty="0"/>
              <a:t>: To evaluate doctors based on revenue contribution</a:t>
            </a:r>
          </a:p>
          <a:p>
            <a:pPr marL="0" indent="0">
              <a:buNone/>
            </a:pPr>
            <a:r>
              <a:rPr lang="en-US" sz="2600" u="sng" dirty="0"/>
              <a:t>Patient Distribution</a:t>
            </a:r>
          </a:p>
          <a:p>
            <a:r>
              <a:rPr lang="en-US" sz="2600" b="1" dirty="0"/>
              <a:t>Explanation:</a:t>
            </a:r>
          </a:p>
          <a:p>
            <a:r>
              <a:rPr lang="en-US" sz="1900" dirty="0"/>
              <a:t>Counts the number of patients in each department </a:t>
            </a:r>
          </a:p>
          <a:p>
            <a:r>
              <a:rPr lang="en-US" sz="1900" dirty="0"/>
              <a:t>Uses value counts to calculate distribution </a:t>
            </a:r>
          </a:p>
          <a:p>
            <a:r>
              <a:rPr lang="en-US" sz="1900" dirty="0"/>
              <a:t>A bar chart shows patient flow across departments </a:t>
            </a:r>
          </a:p>
          <a:p>
            <a:r>
              <a:rPr lang="en-US" sz="1900" dirty="0" smtClean="0"/>
              <a:t>Purpose</a:t>
            </a:r>
            <a:r>
              <a:rPr lang="en-US" sz="1900" dirty="0"/>
              <a:t>: To identify the busiest departments in the hospital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733" y="230482"/>
            <a:ext cx="4162698" cy="33179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399" y="3457302"/>
            <a:ext cx="4564401" cy="313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3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2700" b="1" u="sng" dirty="0" smtClean="0"/>
              <a:t>Admission </a:t>
            </a:r>
            <a:r>
              <a:rPr lang="en-US" sz="2700" b="1" u="sng" dirty="0"/>
              <a:t>Trends (Monthly)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Explanation</a:t>
            </a:r>
            <a:r>
              <a:rPr lang="en-US" sz="2400" b="1" dirty="0"/>
              <a:t>:</a:t>
            </a:r>
          </a:p>
          <a:p>
            <a:r>
              <a:rPr lang="en-US" sz="2400" dirty="0"/>
              <a:t>Admission date is converted into </a:t>
            </a:r>
            <a:r>
              <a:rPr lang="en-US" sz="2400" dirty="0"/>
              <a:t>datetime</a:t>
            </a:r>
            <a:r>
              <a:rPr lang="en-US" sz="2400" dirty="0"/>
              <a:t> format </a:t>
            </a:r>
          </a:p>
          <a:p>
            <a:r>
              <a:rPr lang="en-US" sz="2400" dirty="0"/>
              <a:t>Month is extracted from admission dates </a:t>
            </a:r>
          </a:p>
          <a:p>
            <a:r>
              <a:rPr lang="en-US" sz="2400" dirty="0"/>
              <a:t>Number of admissions per month is calculated </a:t>
            </a:r>
          </a:p>
          <a:p>
            <a:r>
              <a:rPr lang="en-US" sz="2400" dirty="0"/>
              <a:t>A line chart is used to show trends over time </a:t>
            </a:r>
          </a:p>
          <a:p>
            <a:r>
              <a:rPr lang="en-US" sz="2400" dirty="0" smtClean="0"/>
              <a:t>Purpose</a:t>
            </a:r>
            <a:r>
              <a:rPr lang="en-US" sz="2400" dirty="0"/>
              <a:t>: To analyze seasonal or monthly admission patterns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986" y="801188"/>
            <a:ext cx="4679259" cy="330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4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                   Insights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High-revenue departments are more important for hospital </a:t>
            </a:r>
            <a:r>
              <a:rPr lang="en-US" dirty="0" smtClean="0"/>
              <a:t>income</a:t>
            </a:r>
          </a:p>
          <a:p>
            <a:r>
              <a:rPr lang="en-US" dirty="0" smtClean="0"/>
              <a:t>Patients stay longer in some </a:t>
            </a:r>
            <a:r>
              <a:rPr lang="en-US" dirty="0" smtClean="0"/>
              <a:t>departments,that</a:t>
            </a:r>
            <a:r>
              <a:rPr lang="en-US" dirty="0" smtClean="0"/>
              <a:t> shows those cases are more serious or complex</a:t>
            </a:r>
          </a:p>
          <a:p>
            <a:r>
              <a:rPr lang="en-US" dirty="0" smtClean="0"/>
              <a:t>Few doctors generate most of the revenue this shows doctors performance is not equal</a:t>
            </a:r>
          </a:p>
          <a:p>
            <a:r>
              <a:rPr lang="en-US" dirty="0" smtClean="0"/>
              <a:t>Patients distribution is uneven across departments leads to an imbalance in workload</a:t>
            </a:r>
          </a:p>
          <a:p>
            <a:r>
              <a:rPr lang="en-US" dirty="0"/>
              <a:t>Patient admissions change every month, and some months have more patients than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04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Recommendations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/>
              <a:t>Reduce missing values in admission date, billing amount, and insurance coverage </a:t>
            </a:r>
          </a:p>
          <a:p>
            <a:pPr marL="0" indent="0">
              <a:buNone/>
            </a:pPr>
            <a:r>
              <a:rPr lang="en-US" sz="1600" dirty="0" smtClean="0"/>
              <a:t>     Ensure </a:t>
            </a:r>
            <a:r>
              <a:rPr lang="en-US" sz="1600" dirty="0"/>
              <a:t>proper data entry and consistent </a:t>
            </a:r>
            <a:r>
              <a:rPr lang="en-US" sz="1600" dirty="0" smtClean="0"/>
              <a:t>formats.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</a:t>
            </a:r>
            <a:r>
              <a:rPr lang="en-US" sz="1600" b="1" dirty="0" smtClean="0"/>
              <a:t> </a:t>
            </a:r>
            <a:r>
              <a:rPr lang="en-US" sz="1600" b="1" dirty="0"/>
              <a:t>Recommendation</a:t>
            </a:r>
            <a:r>
              <a:rPr lang="en-US" sz="1600" dirty="0"/>
              <a:t>: Implement validation rules at data entry </a:t>
            </a:r>
            <a:r>
              <a:rPr lang="en-US" sz="1600" dirty="0" smtClean="0"/>
              <a:t>level.</a:t>
            </a:r>
            <a:endParaRPr lang="en-US" sz="1600" dirty="0"/>
          </a:p>
          <a:p>
            <a:r>
              <a:rPr lang="en-US" sz="1600" dirty="0"/>
              <a:t>Departments with high patient load and long stay need more beds, staff, and </a:t>
            </a:r>
            <a:r>
              <a:rPr lang="en-US" sz="1600" dirty="0" smtClean="0"/>
              <a:t>equipment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</a:t>
            </a:r>
            <a:r>
              <a:rPr lang="en-US" sz="1600" b="1" dirty="0" smtClean="0"/>
              <a:t>Recommendation</a:t>
            </a:r>
            <a:r>
              <a:rPr lang="en-US" sz="1600" dirty="0"/>
              <a:t>: Allocate resources based on patient volume and average stay </a:t>
            </a:r>
            <a:r>
              <a:rPr lang="en-US" sz="1600" dirty="0" smtClean="0"/>
              <a:t>duration.</a:t>
            </a:r>
          </a:p>
          <a:p>
            <a:r>
              <a:rPr lang="en-US" sz="1600" dirty="0" smtClean="0"/>
              <a:t>Some </a:t>
            </a:r>
            <a:r>
              <a:rPr lang="en-US" sz="1600" dirty="0"/>
              <a:t>doctors treat more patients and generate more revenue than </a:t>
            </a:r>
            <a:r>
              <a:rPr lang="en-US" sz="1600" dirty="0" smtClean="0"/>
              <a:t>others.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</a:t>
            </a:r>
            <a:r>
              <a:rPr lang="en-US" sz="1600" b="1" dirty="0" smtClean="0"/>
              <a:t>Recommendation</a:t>
            </a:r>
            <a:r>
              <a:rPr lang="en-US" sz="1600" dirty="0"/>
              <a:t>: Share patient workload equally among doctors to improve efficiency and reduce stress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Insurance </a:t>
            </a:r>
            <a:r>
              <a:rPr lang="en-US" sz="1600" dirty="0"/>
              <a:t>coverage strongly affects billing </a:t>
            </a:r>
            <a:r>
              <a:rPr lang="en-US" sz="1600" dirty="0" smtClean="0"/>
              <a:t>amounts.</a:t>
            </a:r>
          </a:p>
          <a:p>
            <a:pPr marL="0" indent="0">
              <a:buNone/>
            </a:pPr>
            <a:r>
              <a:rPr lang="en-US" sz="1600" dirty="0" smtClean="0"/>
              <a:t>     </a:t>
            </a:r>
            <a:r>
              <a:rPr lang="en-US" sz="1600" b="1" dirty="0" smtClean="0"/>
              <a:t>Recommendation</a:t>
            </a:r>
            <a:r>
              <a:rPr lang="en-US" sz="1600" dirty="0" smtClean="0"/>
              <a:t>: Study </a:t>
            </a:r>
            <a:r>
              <a:rPr lang="en-US" sz="1600" dirty="0"/>
              <a:t>insurance policies to improve payments and reduce costs for patients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Admissions </a:t>
            </a:r>
            <a:r>
              <a:rPr lang="en-US" sz="1600" dirty="0"/>
              <a:t>vary across months showing seasonal </a:t>
            </a:r>
            <a:r>
              <a:rPr lang="en-US" sz="1600" dirty="0" smtClean="0"/>
              <a:t>patterns.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     </a:t>
            </a:r>
            <a:r>
              <a:rPr lang="en-US" sz="1600" b="1" dirty="0"/>
              <a:t>Recommendation</a:t>
            </a:r>
            <a:r>
              <a:rPr lang="en-US" sz="1600" dirty="0"/>
              <a:t>: Adjust staffing, beds, and supplies based on peak admission </a:t>
            </a:r>
            <a:r>
              <a:rPr lang="en-US" sz="1600" dirty="0" smtClean="0"/>
              <a:t>periods.</a:t>
            </a:r>
            <a:endParaRPr lang="en-US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5108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Conclusion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Hospital </a:t>
            </a:r>
            <a:r>
              <a:rPr lang="en-US" dirty="0"/>
              <a:t>data analysis helps understand patient trends and performance. </a:t>
            </a:r>
          </a:p>
          <a:p>
            <a:r>
              <a:rPr lang="en-US" dirty="0"/>
              <a:t>Revenue and patient load are not equally distributed across departments. </a:t>
            </a:r>
          </a:p>
          <a:p>
            <a:r>
              <a:rPr lang="en-US" dirty="0"/>
              <a:t>Some doctors handle more patients and generate higher revenue. </a:t>
            </a:r>
          </a:p>
          <a:p>
            <a:r>
              <a:rPr lang="en-US" dirty="0"/>
              <a:t>Patient admissions change every month, showing seasonal patterns. </a:t>
            </a:r>
          </a:p>
          <a:p>
            <a:r>
              <a:rPr lang="en-US" dirty="0"/>
              <a:t>Data analysis helps improve hospital efficiency and decision-making. </a:t>
            </a:r>
          </a:p>
          <a:p>
            <a:r>
              <a:rPr lang="en-US" dirty="0"/>
              <a:t>It supports better planning, balanced workload, and improved patient care.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34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</TotalTime>
  <Words>676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menlo</vt:lpstr>
      <vt:lpstr>Retrospect</vt:lpstr>
      <vt:lpstr>Hospital Data Cleaning and Analysis</vt:lpstr>
      <vt:lpstr> Problem Statement </vt:lpstr>
      <vt:lpstr>                               Dataset Overview </vt:lpstr>
      <vt:lpstr>                         Data Issues Identified </vt:lpstr>
      <vt:lpstr>  Cleaning Approach </vt:lpstr>
      <vt:lpstr>                                Analysis</vt:lpstr>
      <vt:lpstr>   Doctor Performance </vt:lpstr>
      <vt:lpstr>  Admission Trends (Monthly) </vt:lpstr>
      <vt:lpstr>                                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Data Cleaning and Analysis</dc:title>
  <dc:creator>PCS</dc:creator>
  <cp:lastModifiedBy>PCS</cp:lastModifiedBy>
  <cp:revision>15</cp:revision>
  <dcterms:created xsi:type="dcterms:W3CDTF">2026-05-02T00:22:02Z</dcterms:created>
  <dcterms:modified xsi:type="dcterms:W3CDTF">2026-05-19T11:55:36Z</dcterms:modified>
</cp:coreProperties>
</file>